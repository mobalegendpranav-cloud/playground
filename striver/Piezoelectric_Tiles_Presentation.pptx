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 day, millions of people walk through transit stations and campuses, generating massive amounts of kinetic energy that dissipates into the ground. Piezoelectric tiles harvest that wasted energy. The technology relies on the piezoelectric effect—a property of certain crystals and ceramics that allows them to generate an electrical charge when compressed.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how this works, we look at the molecular level. Piezoelectric materials have an asymmetrical crystal structure. At rest, charges balance out. But stepping on the tile deforms the lattice, shifting charge centers. This separation creates a voltage across the top and bottom. By attaching conductive plates, we capture this as electrical current.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we use this? They are perfect for high-traffic areas. Harvested energy powers LED streetlights, signs, or foot-traffic sensors. While initial costs are high and power output per step is small, scaling it up in a busy area creates a brilliant way to contribute to renewable energy.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 Beneath Our Feet: Piezoelectric Tiles</a:t>
            </a:r>
          </a:p>
        </p:txBody>
      </p:sp>
      <p:sp>
        <p:nvSpPr>
          <p:cNvPr id="3" name="Content Placeholder 2"/>
          <p:cNvSpPr>
            <a:spLocks noGrp="1"/>
          </p:cNvSpPr>
          <p:nvPr>
            <p:ph idx="1"/>
          </p:nvPr>
        </p:nvSpPr>
        <p:spPr/>
        <p:txBody>
          <a:bodyPr/>
          <a:lstStyle/>
          <a:p>
            <a:r>
              <a:t>The Core Concept: Converting wasted kinetic energy into usable electrical energy.</a:t>
            </a:r>
          </a:p>
          <a:p>
            <a:pPr>
              <a:defRPr sz="2400"/>
            </a:pPr>
            <a:r>
              <a:t>The Piezoelectric Effect: Derived from the Greek word piezein (to squeeze or press).</a:t>
            </a:r>
          </a:p>
          <a:p>
            <a:pPr>
              <a:defRPr sz="2400"/>
            </a:pPr>
            <a:r>
              <a:t>How It Starts: Certain materials generate an electric charge when subjected to mechanical stress.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Science of the Squeeze</a:t>
            </a:r>
          </a:p>
        </p:txBody>
      </p:sp>
      <p:sp>
        <p:nvSpPr>
          <p:cNvPr id="3" name="Content Placeholder 2"/>
          <p:cNvSpPr>
            <a:spLocks noGrp="1"/>
          </p:cNvSpPr>
          <p:nvPr>
            <p:ph idx="1"/>
          </p:nvPr>
        </p:nvSpPr>
        <p:spPr/>
        <p:txBody>
          <a:bodyPr/>
          <a:lstStyle/>
          <a:p>
            <a:r>
              <a:t>Crystal Asymmetry: Piezoelectric materials have an asymmetrical crystalline lattice.</a:t>
            </a:r>
          </a:p>
          <a:p>
            <a:pPr>
              <a:defRPr sz="2400"/>
            </a:pPr>
            <a:r>
              <a:t>Mechanical Deformation: When stepped on, the pressure deforms the lattice structure.</a:t>
            </a:r>
          </a:p>
          <a:p>
            <a:pPr>
              <a:defRPr sz="2400"/>
            </a:pPr>
            <a:r>
              <a:t>Charge Separation: This forces positive and negative ions apart, creating a dipole moment.</a:t>
            </a:r>
          </a:p>
          <a:p>
            <a:pPr>
              <a:defRPr sz="2400"/>
            </a:pPr>
            <a:r>
              <a:t>Harvesting the Current: A voltage difference builds up, driving an alternating current (AC).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Applications</a:t>
            </a:r>
          </a:p>
        </p:txBody>
      </p:sp>
      <p:sp>
        <p:nvSpPr>
          <p:cNvPr id="3" name="Content Placeholder 2"/>
          <p:cNvSpPr>
            <a:spLocks noGrp="1"/>
          </p:cNvSpPr>
          <p:nvPr>
            <p:ph idx="1"/>
          </p:nvPr>
        </p:nvSpPr>
        <p:spPr/>
        <p:txBody>
          <a:bodyPr/>
          <a:lstStyle/>
          <a:p>
            <a:r>
              <a:t>Ideal Locations: High-traffic environments (airports, transit stations).</a:t>
            </a:r>
          </a:p>
          <a:p>
            <a:pPr>
              <a:defRPr sz="2400"/>
            </a:pPr>
            <a:r>
              <a:t>Practical Uses: Powering localized, low-power systems like LED lighting and sensors.</a:t>
            </a:r>
          </a:p>
          <a:p>
            <a:pPr>
              <a:defRPr sz="2400"/>
            </a:pPr>
            <a:r>
              <a:t>The Challenges: High initial installation costs and low output per step.</a:t>
            </a:r>
          </a:p>
          <a:p>
            <a:pPr>
              <a:defRPr sz="2400"/>
            </a:pPr>
            <a:r>
              <a:t>The Future: Integration with smart-city infrastructure and IoT devices.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